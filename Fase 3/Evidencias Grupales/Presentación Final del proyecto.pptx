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Unbounded"/>
      <p:regular r:id="rId16"/>
    </p:embeddedFont>
    <p:embeddedFont>
      <p:font typeface="Unbounded"/>
      <p:regular r:id="rId17"/>
    </p:embeddedFont>
    <p:embeddedFont>
      <p:font typeface="Cabin"/>
      <p:regular r:id="rId18"/>
    </p:embeddedFont>
    <p:embeddedFont>
      <p:font typeface="Cabin"/>
      <p:regular r:id="rId19"/>
    </p:embeddedFont>
    <p:embeddedFont>
      <p:font typeface="Cabin"/>
      <p:regular r:id="rId20"/>
    </p:embeddedFont>
    <p:embeddedFont>
      <p:font typeface="Cabin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7584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INTEXTA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2775585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Chatbot Inteligente de WhatsApp para tu Negocio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324124" y="4261128"/>
            <a:ext cx="7468553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2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Respuestas automáticas en lenguaje natural sobre tus documentos e inventario, disponibles 24/7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324124" y="548759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Automatizamos consultas, ahorramos tiempo y optimizamos tus operaciones empresariales con inteligencia artificial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" y="886420"/>
            <a:ext cx="12364998" cy="51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Desafío: Información Dispersa y Tiempo Perdido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17220" y="1846064"/>
            <a:ext cx="2762964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 Realidad Actual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17220" y="2333506"/>
            <a:ext cx="6482834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Las empresas enfrentan desafíos críticos de productividad debido a información fragmentada y procesos ineficientes de búsqueda.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537966" y="1868091"/>
            <a:ext cx="396835" cy="396835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8111133" y="1928693"/>
            <a:ext cx="5909667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Documentos dispersos en múltiples plataformas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11133" y="2623661"/>
            <a:ext cx="5909667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Manuales, informes y planillas pedidos en Google Drive y repositorios sin organización clara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537966" y="3540443"/>
            <a:ext cx="396835" cy="396835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9" name="Text 7"/>
          <p:cNvSpPr/>
          <p:nvPr/>
        </p:nvSpPr>
        <p:spPr>
          <a:xfrm>
            <a:off x="8111133" y="3601045"/>
            <a:ext cx="4146352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Equipos perdiendo horas valiosas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11133" y="4036695"/>
            <a:ext cx="5909667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Búsquedas constantes en PDFs, correos y planillas reducen la productividad diaria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37966" y="4953476"/>
            <a:ext cx="396835" cy="396835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8111133" y="5014079"/>
            <a:ext cx="3939778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Dependencia de personas clave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11133" y="5449729"/>
            <a:ext cx="5909667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Consultas repetitivas saturan a expertos que podrían enfocarse en tareas estratégicas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37966" y="6366510"/>
            <a:ext cx="396835" cy="396835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5" name="Text 13"/>
          <p:cNvSpPr/>
          <p:nvPr/>
        </p:nvSpPr>
        <p:spPr>
          <a:xfrm>
            <a:off x="8111133" y="6427113"/>
            <a:ext cx="4243626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Consultas recurrentes sin resolver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1133" y="6862763"/>
            <a:ext cx="5909667" cy="28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Preguntas sobre inventario, procedimientos y políticas que se repiten día tras día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294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4972" y="1864281"/>
            <a:ext cx="10529173" cy="609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Soluciones para Múltiples Industrias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24972" y="2784158"/>
            <a:ext cx="6486644" cy="2334220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932021" y="2991207"/>
            <a:ext cx="621387" cy="621387"/>
          </a:xfrm>
          <a:prstGeom prst="roundRect">
            <a:avLst>
              <a:gd name="adj" fmla="val 14713996"/>
            </a:avLst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876" y="3162062"/>
            <a:ext cx="279559" cy="279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021" y="3819644"/>
            <a:ext cx="2578537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Retail e Inventario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32021" y="4248388"/>
            <a:ext cx="607254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Consultas instantáneas de stock, códigos de productos y características técnicas directamente por WhatsApp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18665" y="2784158"/>
            <a:ext cx="6486763" cy="2334220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10" name="Shape 6"/>
          <p:cNvSpPr/>
          <p:nvPr/>
        </p:nvSpPr>
        <p:spPr>
          <a:xfrm>
            <a:off x="7625715" y="2991207"/>
            <a:ext cx="621387" cy="621387"/>
          </a:xfrm>
          <a:prstGeom prst="roundRect">
            <a:avLst>
              <a:gd name="adj" fmla="val 14713996"/>
            </a:avLst>
          </a:prstGeom>
          <a:solidFill>
            <a:srgbClr val="0A988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570" y="3162062"/>
            <a:ext cx="279559" cy="2795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625715" y="3819644"/>
            <a:ext cx="449187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Soporte Técnico y Operaciones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625715" y="4248388"/>
            <a:ext cx="607266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Acceso rápido a procedimientos técnicos, manuales operativos y guías de resolución de problemas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24972" y="5325428"/>
            <a:ext cx="6486644" cy="2334220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15" name="Shape 10"/>
          <p:cNvSpPr/>
          <p:nvPr/>
        </p:nvSpPr>
        <p:spPr>
          <a:xfrm>
            <a:off x="932021" y="5532477"/>
            <a:ext cx="621387" cy="621387"/>
          </a:xfrm>
          <a:prstGeom prst="roundRect">
            <a:avLst>
              <a:gd name="adj" fmla="val 14713996"/>
            </a:avLst>
          </a:prstGeom>
          <a:solidFill>
            <a:srgbClr val="0A988B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876" y="5703332"/>
            <a:ext cx="279559" cy="2795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2021" y="6360914"/>
            <a:ext cx="295644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Dirección y Gerencia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932021" y="6789658"/>
            <a:ext cx="6072545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Información clave de reportes ejecutivos, KPIs e informes estratégicos al alcance inmediato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418665" y="5325428"/>
            <a:ext cx="6486763" cy="2334220"/>
          </a:xfrm>
          <a:prstGeom prst="roundRect">
            <a:avLst>
              <a:gd name="adj" fmla="val 1331"/>
            </a:avLst>
          </a:prstGeom>
          <a:solidFill>
            <a:srgbClr val="304755"/>
          </a:solidFill>
          <a:ln/>
        </p:spPr>
      </p:sp>
      <p:sp>
        <p:nvSpPr>
          <p:cNvPr id="20" name="Shape 14"/>
          <p:cNvSpPr/>
          <p:nvPr/>
        </p:nvSpPr>
        <p:spPr>
          <a:xfrm>
            <a:off x="7625715" y="5532477"/>
            <a:ext cx="621387" cy="621387"/>
          </a:xfrm>
          <a:prstGeom prst="roundRect">
            <a:avLst>
              <a:gd name="adj" fmla="val 14713996"/>
            </a:avLst>
          </a:prstGeom>
          <a:solidFill>
            <a:srgbClr val="0A988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96570" y="5703332"/>
            <a:ext cx="279559" cy="27955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25715" y="6360914"/>
            <a:ext cx="2833211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Recursos Humanos</a:t>
            </a:r>
            <a:endParaRPr lang="en-US" sz="1900" dirty="0"/>
          </a:p>
        </p:txBody>
      </p:sp>
      <p:sp>
        <p:nvSpPr>
          <p:cNvPr id="23" name="Text 16"/>
          <p:cNvSpPr/>
          <p:nvPr/>
        </p:nvSpPr>
        <p:spPr>
          <a:xfrm>
            <a:off x="7625715" y="6789658"/>
            <a:ext cx="6072664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Respuestas automáticas sobre políticas internas, beneficios corporativos y procesos administrativos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450" y="585668"/>
            <a:ext cx="13139499" cy="1252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Nuestra Solución: Inteligencia Conversacional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45450" y="2264331"/>
            <a:ext cx="13139499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Implementamos un chatbot de WhatsApp que comprende lenguaje natural y responde basándose en tu documentación empresarial existente.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50" y="2844641"/>
            <a:ext cx="6569750" cy="8518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8334" y="3909417"/>
            <a:ext cx="2912745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Chatbot Inteligente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58334" y="4350425"/>
            <a:ext cx="6143982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Powered by DeepSeek AI para comprensión avanzada del lenguaje natural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844641"/>
            <a:ext cx="6569750" cy="8518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8084" y="3909417"/>
            <a:ext cx="3358158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Base de Conocimiento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528084" y="4350425"/>
            <a:ext cx="6143982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directa con documentos en Google Drive: manuales, PDFs, informes y planillas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50" y="5244822"/>
            <a:ext cx="6569750" cy="8518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8334" y="6309598"/>
            <a:ext cx="2569964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Canal WhatsApp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58334" y="6750606"/>
            <a:ext cx="6143982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mediante Twilio y WhatsApp Business para comunicación instantánea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244822"/>
            <a:ext cx="6569750" cy="8518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8084" y="6309598"/>
            <a:ext cx="2943820" cy="313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Tecnología Robusta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528084" y="6750606"/>
            <a:ext cx="6143982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Desarrollado en Python 3.14 con arquitectura modular, flexible y escalable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29797"/>
            <a:ext cx="1176742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Arquitectura Técnica de la Solución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1256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2788920"/>
            <a:ext cx="4158734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2969538"/>
            <a:ext cx="382035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Usuario envía consulta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3465076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cliente escribe su pregunta de forma natural por WhatsApp Business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235773" y="241256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235773" y="2788920"/>
            <a:ext cx="4158734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9" name="Text 7"/>
          <p:cNvSpPr/>
          <p:nvPr/>
        </p:nvSpPr>
        <p:spPr>
          <a:xfrm>
            <a:off x="5235773" y="2969538"/>
            <a:ext cx="33905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Recepción por Twilio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773" y="3465076"/>
            <a:ext cx="41587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plataforma Twilio captura el mensaje y lo enruta al backend mediante ngrok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33823" y="2412563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633823" y="2788920"/>
            <a:ext cx="4158853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3" name="Text 11"/>
          <p:cNvSpPr/>
          <p:nvPr/>
        </p:nvSpPr>
        <p:spPr>
          <a:xfrm>
            <a:off x="9633823" y="2969538"/>
            <a:ext cx="415885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Procesamiento inteligente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33823" y="3817025"/>
            <a:ext cx="41588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Nuestro backend en Python 3.14 consulta a DeepSeek para interpretar la intención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37724" y="500181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837724" y="537817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7" name="Text 15"/>
          <p:cNvSpPr/>
          <p:nvPr/>
        </p:nvSpPr>
        <p:spPr>
          <a:xfrm>
            <a:off x="837724" y="5558790"/>
            <a:ext cx="456259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Búsqueda en conocimiento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7724" y="6054328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 consulta la base optimizada construida desde documentos de Google Drive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434858" y="5001816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7434858" y="5378172"/>
            <a:ext cx="6357818" cy="3048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858" y="5558790"/>
            <a:ext cx="394335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Respuesta instantánea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4858" y="6054328"/>
            <a:ext cx="635781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chatbot envía una respuesta clara, precisa y contextualizada por WhatsApp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70839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ETL: Optimización de Costos e Inteligencia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980123"/>
            <a:ext cx="2976682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Preprocesamiento Inteligente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8862" y="1310878"/>
            <a:ext cx="5341858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Nuestro módulo ETL transforma documentos dispersos en una base de conocimiento optimizada que reduce costos operativos significativamente.</a:t>
            </a:r>
            <a:endParaRPr lang="en-US" sz="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862" y="1828324"/>
            <a:ext cx="5341858" cy="68680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39708" y="1114663"/>
            <a:ext cx="7979212" cy="119658"/>
          </a:xfrm>
          <a:prstGeom prst="roundRect">
            <a:avLst>
              <a:gd name="adj" fmla="val 15004"/>
            </a:avLst>
          </a:prstGeom>
          <a:solidFill>
            <a:srgbClr val="304755"/>
          </a:solidFill>
          <a:ln/>
        </p:spPr>
      </p:sp>
      <p:sp>
        <p:nvSpPr>
          <p:cNvPr id="7" name="Shape 4"/>
          <p:cNvSpPr/>
          <p:nvPr/>
        </p:nvSpPr>
        <p:spPr>
          <a:xfrm>
            <a:off x="6060281" y="994946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30475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0054" y="1084719"/>
            <a:ext cx="179427" cy="179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9939" y="1473637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Extracción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179939" y="1769269"/>
            <a:ext cx="791944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Documentos desde Google Drive de forma automatizada y segura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19136" y="2319695"/>
            <a:ext cx="7799784" cy="119658"/>
          </a:xfrm>
          <a:prstGeom prst="roundRect">
            <a:avLst>
              <a:gd name="adj" fmla="val 15004"/>
            </a:avLst>
          </a:prstGeom>
          <a:solidFill>
            <a:srgbClr val="304755"/>
          </a:solidFill>
          <a:ln/>
        </p:spPr>
      </p:sp>
      <p:sp>
        <p:nvSpPr>
          <p:cNvPr id="12" name="Shape 8"/>
          <p:cNvSpPr/>
          <p:nvPr/>
        </p:nvSpPr>
        <p:spPr>
          <a:xfrm>
            <a:off x="6239708" y="2199977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3047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9482" y="2289750"/>
            <a:ext cx="179427" cy="1794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9366" y="267866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Transformación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59366" y="2974300"/>
            <a:ext cx="7740015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Limpieza de texto, segmentación en chunks, generación de resúmenes y embeddings semánticos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598682" y="3524726"/>
            <a:ext cx="7620238" cy="119658"/>
          </a:xfrm>
          <a:prstGeom prst="roundRect">
            <a:avLst>
              <a:gd name="adj" fmla="val 15004"/>
            </a:avLst>
          </a:prstGeom>
          <a:solidFill>
            <a:srgbClr val="304755"/>
          </a:solidFill>
          <a:ln/>
        </p:spPr>
      </p:sp>
      <p:sp>
        <p:nvSpPr>
          <p:cNvPr id="17" name="Shape 12"/>
          <p:cNvSpPr/>
          <p:nvPr/>
        </p:nvSpPr>
        <p:spPr>
          <a:xfrm>
            <a:off x="6419255" y="3405009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30475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9028" y="3494782"/>
            <a:ext cx="179427" cy="1794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8912" y="3883700"/>
            <a:ext cx="1546027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Carga Optimizada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538912" y="4179332"/>
            <a:ext cx="756046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Base de conocimiento lista para consultas rápidas y eficientes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18862" y="8965406"/>
            <a:ext cx="6836450" cy="678537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22" name="Text 16"/>
          <p:cNvSpPr/>
          <p:nvPr/>
        </p:nvSpPr>
        <p:spPr>
          <a:xfrm>
            <a:off x="538520" y="9085064"/>
            <a:ext cx="1745099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Reducción de Tokens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38520" y="9332833"/>
            <a:ext cx="659713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DeepSeek recibe solo fragmentos relevantes, no documentos completos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7374969" y="8965406"/>
            <a:ext cx="6836569" cy="678537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25" name="Text 19"/>
          <p:cNvSpPr/>
          <p:nvPr/>
        </p:nvSpPr>
        <p:spPr>
          <a:xfrm>
            <a:off x="7494627" y="9085064"/>
            <a:ext cx="222087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Menor Costo por Consulta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94627" y="9332833"/>
            <a:ext cx="659725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Menos tokens procesados significa costos operativos significativamente más bajos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18862" y="9763601"/>
            <a:ext cx="6836450" cy="678537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28" name="Text 22"/>
          <p:cNvSpPr/>
          <p:nvPr/>
        </p:nvSpPr>
        <p:spPr>
          <a:xfrm>
            <a:off x="538520" y="9883259"/>
            <a:ext cx="213788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Respuestas Más Rápidas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38520" y="10131028"/>
            <a:ext cx="659713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Búsquedas enfocadas y precisas sin texto irrelevante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7374969" y="9763601"/>
            <a:ext cx="6836569" cy="678537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31" name="Text 25"/>
          <p:cNvSpPr/>
          <p:nvPr/>
        </p:nvSpPr>
        <p:spPr>
          <a:xfrm>
            <a:off x="7494627" y="9883259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Escalabilidad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7494627" y="10131028"/>
            <a:ext cx="659725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Incorpora nuevos documentos sin reprocesar toda la base de conocimiento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604" y="354806"/>
            <a:ext cx="8284369" cy="379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 de Uso: Gestión Inteligente de Inventario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51604" y="1056680"/>
            <a:ext cx="2110502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Desafío del Retail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1604" y="1413272"/>
            <a:ext cx="6706195" cy="412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Vendedores necesitando información de stock en tiempo real, consultando por teléfono o correo con respuestas lentas que hacen perder ventas.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1604" y="2035727"/>
            <a:ext cx="6706195" cy="23693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1604" y="2204442"/>
            <a:ext cx="1821894" cy="22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 Solución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1604" y="2561034"/>
            <a:ext cx="6706195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 nuestro chatbot, las consultas de inventario se resuelven instantáneamente desde cualquier lugar.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221" y="1072872"/>
            <a:ext cx="6706195" cy="6706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1604" y="8069342"/>
            <a:ext cx="13727192" cy="1189196"/>
          </a:xfrm>
          <a:prstGeom prst="roundRect">
            <a:avLst>
              <a:gd name="adj" fmla="val 1628"/>
            </a:avLst>
          </a:prstGeom>
          <a:solidFill>
            <a:srgbClr val="0548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9" y="8242340"/>
            <a:ext cx="189667" cy="1518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9160" y="8230433"/>
            <a:ext cx="2702362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Ejemplo de Conversación Real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99160" y="8549045"/>
            <a:ext cx="1315069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Vendedor: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"¿Stock del producto código 12345 en bodega central?"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99160" y="8871585"/>
            <a:ext cx="1315069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Chatbot: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"Producto 12345 - Zapatillas Running Pro. Stock disponible: Bodega Central: 45 unidades | Sucursal Norte: 12 unidades | Sucursal Sur: 8 unidades. Última actualización: hoy 14:30 hrs."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1604" y="9403675"/>
            <a:ext cx="13727192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 chatbot consulta la base de conocimiento generada desde las planillas de inventario preprocesadas por nuestro módulo ETL, entregando respuestas precisas en segundos.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461" y="353139"/>
            <a:ext cx="8183523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Costos estimados del servicio (ejemplo anual)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9461" y="987623"/>
            <a:ext cx="13731478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Modelo de costos liviano y escalable, basado en uso real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49461" y="1517094"/>
            <a:ext cx="1510903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DeepSeek (IA)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49461" y="1834277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Costo muy bajo: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US$2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procesan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4-5 millones de tokens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(aprox.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20.000-25.000 respuestas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461" y="2084665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Mensaje clave: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“El costo de IA es marginal frente al valor del servicio.”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79387" y="1517094"/>
            <a:ext cx="1614726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Twilio / WhatsApp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79387" y="1834277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Desde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US$0,005 por mensaje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79387" y="2084665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Ejemplo: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10.000 mensajes/mes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120.000/año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 →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≈ US$350/año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solo en mensajería.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79387" y="2335054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Mensaje clave: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“La mayor parte del costo variable está en la mensajería, y crece sólo si el uso del canal aumenta.”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9461" y="2858214"/>
            <a:ext cx="3752850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Google Workspace (documentos en Drive)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9461" y="3175397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Plan sugerido: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Google Workspace Business Standard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~2 TB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por usuario).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9461" y="3425785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Referencia: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US$14 por usuario/mes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→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~US$168/año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para una cuenta dedicada.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9461" y="3676174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FF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Mensaje clave: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“Un solo usuario de Workspace puede alojar la documentación de múltiples proyectos.”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79387" y="2858214"/>
            <a:ext cx="2334816" cy="188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Implementación y servicio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79387" y="3175397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Implementación inicial: Integración con Twilio/WhatsApp, ETL para Drive y ajuste del chatbot con DeepSeek.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79387" y="3425785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Costo de setup: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Fee único inicial bajo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(desde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US$[X]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según alcance).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79387" y="3676174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Operación continua: Mantenimiento, actualización de documentos y soporte.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9461" y="4135120"/>
            <a:ext cx="13731478" cy="23574"/>
          </a:xfrm>
          <a:prstGeom prst="rect">
            <a:avLst/>
          </a:prstGeom>
          <a:solidFill>
            <a:srgbClr val="CAD6DE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9461" y="4418528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 un escenario medio (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10.000 mensajes/mes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), los costos anuales de plataforma rondan los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D7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US$322/año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9461" y="4739521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DeepSeek (IA):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~US$4/año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9461" y="4989909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Twilio / WhatsApp: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~US$250/año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9461" y="5240298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Google Workspace: 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~US$168/año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9461" y="5561290"/>
            <a:ext cx="6709172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 mensajería concentra la mayor parte del costo; la IA y el almacenamiento tienen peso mínimo.</a:t>
            </a:r>
            <a:endParaRPr lang="en-US" sz="10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387" y="4447461"/>
            <a:ext cx="6709172" cy="359818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448556" y="8076128"/>
            <a:ext cx="128349" cy="128349"/>
          </a:xfrm>
          <a:prstGeom prst="roundRect">
            <a:avLst>
              <a:gd name="adj" fmla="val 14249"/>
            </a:avLst>
          </a:prstGeom>
          <a:solidFill>
            <a:srgbClr val="0A988B"/>
          </a:solidFill>
          <a:ln/>
        </p:spPr>
      </p:sp>
      <p:sp>
        <p:nvSpPr>
          <p:cNvPr id="27" name="Text 24"/>
          <p:cNvSpPr/>
          <p:nvPr/>
        </p:nvSpPr>
        <p:spPr>
          <a:xfrm>
            <a:off x="8637865" y="8076128"/>
            <a:ext cx="976312" cy="128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Twilio / WhatsApp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0234612" y="8076128"/>
            <a:ext cx="128349" cy="128349"/>
          </a:xfrm>
          <a:prstGeom prst="roundRect">
            <a:avLst>
              <a:gd name="adj" fmla="val 14249"/>
            </a:avLst>
          </a:prstGeom>
          <a:solidFill>
            <a:srgbClr val="5E980A"/>
          </a:solidFill>
          <a:ln/>
        </p:spPr>
      </p:sp>
      <p:sp>
        <p:nvSpPr>
          <p:cNvPr id="29" name="Text 26"/>
          <p:cNvSpPr/>
          <p:nvPr/>
        </p:nvSpPr>
        <p:spPr>
          <a:xfrm>
            <a:off x="10423922" y="8076128"/>
            <a:ext cx="1009412" cy="128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Google Workspace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2053768" y="8076128"/>
            <a:ext cx="128349" cy="128349"/>
          </a:xfrm>
          <a:prstGeom prst="roundRect">
            <a:avLst>
              <a:gd name="adj" fmla="val 14249"/>
            </a:avLst>
          </a:prstGeom>
          <a:solidFill>
            <a:srgbClr val="980A17"/>
          </a:solidFill>
          <a:ln/>
        </p:spPr>
      </p:sp>
      <p:sp>
        <p:nvSpPr>
          <p:cNvPr id="31" name="Text 28"/>
          <p:cNvSpPr/>
          <p:nvPr/>
        </p:nvSpPr>
        <p:spPr>
          <a:xfrm>
            <a:off x="12243078" y="8076128"/>
            <a:ext cx="776407" cy="128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DeepSeek (IA)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668" y="942975"/>
            <a:ext cx="11349990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Beneficios Tangibles para tu Negocio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668" y="2028230"/>
            <a:ext cx="658892" cy="6588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02118" y="2213491"/>
            <a:ext cx="4735116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Ahorro de Tiempo Significativo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702118" y="2668072"/>
            <a:ext cx="5475803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Elimina horas de búsqueda manual en documentos. Tu equipo recupera tiempo valioso para tareas estratégicas y de mayor impacto.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2479" y="2028230"/>
            <a:ext cx="658892" cy="6588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5929" y="2213491"/>
            <a:ext cx="5171242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Menos Interrupciones Operativas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8385929" y="2668072"/>
            <a:ext cx="5475803" cy="1054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 consultas repetitivas que saturan a expertos internos. Información accesible sin depender de personas clave.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8668" y="4161711"/>
            <a:ext cx="658892" cy="6588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02118" y="4346972"/>
            <a:ext cx="298287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Disponibilidad Total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702118" y="4801553"/>
            <a:ext cx="547580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Respuestas instantáneas 24/7, sin importar horarios ni días festivos. Tu información siempre disponible.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2479" y="4161711"/>
            <a:ext cx="658892" cy="6588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85929" y="4346972"/>
            <a:ext cx="308645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Experiencia Familiar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385929" y="4801553"/>
            <a:ext cx="547580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Usa WhatsApp, la plataforma que tu equipo ya conoce y usa diariamente. Cero curva de aprendizaje.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668" y="5943719"/>
            <a:ext cx="658892" cy="6588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702118" y="6128980"/>
            <a:ext cx="452139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Optimización de Costos de IA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702118" y="6583561"/>
            <a:ext cx="547580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Nuestro ETL reduce tokens enviados a DeepSeek hasta en 70%, minimizando costos operativos mensuales.</a:t>
            </a:r>
            <a:endParaRPr lang="en-US" sz="17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2479" y="5943719"/>
            <a:ext cx="658892" cy="6588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85929" y="6128980"/>
            <a:ext cx="379178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Escalabilidad Sin Límites</a:t>
            </a:r>
            <a:endParaRPr lang="en-US" sz="2000" dirty="0"/>
          </a:p>
        </p:txBody>
      </p:sp>
      <p:sp>
        <p:nvSpPr>
          <p:cNvPr id="20" name="Text 12"/>
          <p:cNvSpPr/>
          <p:nvPr/>
        </p:nvSpPr>
        <p:spPr>
          <a:xfrm>
            <a:off x="8385929" y="6583561"/>
            <a:ext cx="5475803" cy="702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Crece con tu negocio: incorpora nuevos documentos, casos de uso y usuarios sin rediseñar la solución.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2025-12-02T20:14:50Z</dcterms:created>
  <dcterms:modified xsi:type="dcterms:W3CDTF">2025-12-02T20:14:50Z</dcterms:modified>
</cp:coreProperties>
</file>